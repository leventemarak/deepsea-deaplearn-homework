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5" r:id="rId5"/>
    <p:sldId id="261" r:id="rId6"/>
    <p:sldId id="266" r:id="rId7"/>
    <p:sldId id="267" r:id="rId8"/>
    <p:sldId id="262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0AE665-88A6-0FE1-DCCD-E692BF9F5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9727F67-6C9C-4F51-3E60-5B6F99F75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ru-RU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F192C1-2829-FDDD-F9AB-F074AD7C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95377-168C-C33D-09B6-89587D85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5F90B4D-1342-0390-5A0E-042C6678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85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CE6E4C-2CEA-4881-7A6E-EEED364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B73A59-F169-8F23-5F2B-53FE9B4DB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7A27DB2-07A6-E8A2-B595-436C039D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9E22D5-721B-7877-8228-537BD82D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6C893-C481-A70A-2773-405D1A1F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18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4F3C0E-AB08-32A8-9520-43F1BBDC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558C981-B050-3B28-C2F6-8714B4030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DC9877-3AB9-14C8-A924-B66BA29F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992B5EB-90F9-9FBA-8C8D-F544A9CD8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2738D8-B2D4-4645-AFD7-5769F948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428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34F3BE-F861-82AB-42BC-8D05D66E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C03103-0BD5-61B5-2194-E9AEDBA9A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46FEED2-0537-59B7-83E3-AF365ED7C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DB18DC3-D506-4D5E-1CF7-B8D58C36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B66F9E-CDA7-DC9D-B540-0CBDBA3E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95AEB79-A908-905A-1EF9-987FC576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80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0F4AA2-5C3D-9910-B3D5-7E76ACDC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E34A4C3-6F07-A75D-A65A-00E1264C9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95B7436-5A9B-F5CF-27E7-88907A950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4D76D4D-6545-6BE8-D24A-F4C25D81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BD8235-5DFD-48CC-E479-C5B9A9BDB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316A269-B1D1-0BBF-6470-4DD347E6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F6257FE8-5833-2C54-973B-BCF55740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0E7DDC5-CCD5-6BA1-C77C-3440EA43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02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D5E05E-A12E-7741-1F65-275A7FDE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06EAA43-6727-DD4E-6489-E2F1C936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17AEC36-F7FA-BE74-019C-64F95CC2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7489214-B53B-869C-EC3A-0D311F89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39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429F454-6B13-6B94-966D-8521271D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661C502-1AD6-2296-8F71-57EC4F11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D83FE7-2228-7AB7-B283-B33921EE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62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3C9581-1980-F7BD-0340-E37525C6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C59B49-E76A-0E34-05F2-8C3B7CE6E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4DC052A-3CE5-5AD4-310D-1C459FEE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977ACCF-2884-B100-4E95-52709E84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0FB48CE-949D-8D7B-85F0-700F6B54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0B3A15D-CCED-E750-0A7B-86C2D82C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DF792B-14EE-B58C-5ACF-7E480A6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A1B30C5-0B60-A9A1-981C-AAB341AE6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8D90492-8F38-E8F0-F580-04EA021CF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741F63F-FB8B-12E6-FB07-5AAB726E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8997E6-67F0-FC60-710D-90CFFBC0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8FE4395-DADE-E0E7-DE32-9BB7EA15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82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36F54C-6939-6361-FA9A-4E1EE266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9600B7-94BD-FD8C-AB3F-8FAC4E681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C6E164-907A-A0A7-8C69-8E24A197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4C5426A-226F-281B-60A4-7BC4DBF7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2250BE-6C76-C776-7EB8-EFDF043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94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E5CC095-8891-185F-C255-4CD108977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0622B2E-0287-E7FB-8C6A-353050BC7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303E33D-AD7F-2C2F-5124-EAC94868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A4CC675-7E85-97F9-24A4-3E2703F6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93D925-2919-AAA5-74B0-F1726510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6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A60F771-FABF-A61E-5529-0C4FC904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F698A34-7DE7-2288-6CCD-2570A6C29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27C1FAF-D52E-A718-F800-01B898B64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B42F2-1B22-40F4-A3E5-2C2A5553F0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C3B3A5-F08F-3CAB-441A-42AA8A657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71BDBB-CE50-D3F7-03A4-8487559DE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B314F-4078-4C06-A399-AA7DA737B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06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c/airbus-ship-detec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FAA199-9D82-AE99-997F-3CDAA42FB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Házi feladat bemutatás</a:t>
            </a:r>
            <a:endParaRPr lang="ru-R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299B688-905E-696B-BFDA-9C1723DB2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Csapat: </a:t>
            </a:r>
            <a:r>
              <a:rPr lang="hu-HU" dirty="0" err="1"/>
              <a:t>DeepSea</a:t>
            </a:r>
            <a:endParaRPr lang="hu-HU" dirty="0"/>
          </a:p>
          <a:p>
            <a:r>
              <a:rPr lang="hu-HU" dirty="0"/>
              <a:t>Csáki Márton: R0OQD4</a:t>
            </a:r>
          </a:p>
          <a:p>
            <a:r>
              <a:rPr lang="hu-HU" dirty="0" err="1"/>
              <a:t>Ogleznyev</a:t>
            </a:r>
            <a:r>
              <a:rPr lang="hu-HU" dirty="0"/>
              <a:t> </a:t>
            </a:r>
            <a:r>
              <a:rPr lang="hu-HU" dirty="0" err="1"/>
              <a:t>Pável</a:t>
            </a:r>
            <a:r>
              <a:rPr lang="hu-HU" dirty="0"/>
              <a:t>: GRKO04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66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358187-0F7A-77CF-CF9E-F0B32BA0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Cél, adatok</a:t>
            </a:r>
            <a:endParaRPr lang="ru-R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2752FF2-FEB2-B09E-87F9-DFCAE013AAAD}"/>
              </a:ext>
            </a:extLst>
          </p:cNvPr>
          <p:cNvSpPr txBox="1"/>
          <p:nvPr/>
        </p:nvSpPr>
        <p:spPr>
          <a:xfrm>
            <a:off x="676655" y="1929384"/>
            <a:ext cx="9543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u-HU" dirty="0"/>
              <a:t>Feladat</a:t>
            </a:r>
            <a:r>
              <a:rPr lang="hu-HU" b="1" dirty="0"/>
              <a:t>:</a:t>
            </a:r>
            <a:r>
              <a:rPr lang="hu-HU" dirty="0"/>
              <a:t> A hajók elkülönítése a nyílt tengertől, felhőktől és a parttól</a:t>
            </a:r>
            <a:endParaRPr lang="hu-HU" altLang="hu-HU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u-HU" altLang="hu-HU" dirty="0"/>
              <a:t>Motiváció</a:t>
            </a:r>
            <a:r>
              <a:rPr lang="hu-HU" altLang="hu-HU" b="1" dirty="0"/>
              <a:t>:</a:t>
            </a:r>
            <a:r>
              <a:rPr lang="hu-HU" altLang="hu-HU" dirty="0"/>
              <a:t> Tengeri forgalom felügyelete és környezetvédelmi monitorozás automatizálása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Kaggle</a:t>
            </a:r>
            <a:r>
              <a:rPr lang="hu-HU" dirty="0"/>
              <a:t>: </a:t>
            </a:r>
            <a:r>
              <a:rPr lang="hu-HU" dirty="0">
                <a:hlinkClick r:id="rId2" tooltip="https://www.kaggle.com/c/airbus-ship-detection"/>
              </a:rPr>
              <a:t>https://www.kaggle.com/c/airbus-ship-detection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~192k kép, hajókkal és hajók nélkül, valamint metaadat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adatokat driveról a Google </a:t>
            </a:r>
            <a:r>
              <a:rPr lang="hu-HU" dirty="0" err="1"/>
              <a:t>Colab</a:t>
            </a:r>
            <a:r>
              <a:rPr lang="hu-HU" dirty="0"/>
              <a:t> környezetbe töltöttük fel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ru-R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F5BBE56-C68F-4C9E-FD8F-2149F52E7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" y="4091116"/>
            <a:ext cx="8877300" cy="177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0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EDA02D7-DE45-1DB5-DDFC-5AFFB1E8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/>
              <a:t>Korábbi megoldások, és problémák</a:t>
            </a:r>
            <a:endParaRPr lang="ru-RU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C746CC-BF6F-0338-1EF3-307D714351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altLang="hu-HU" sz="2200">
                <a:latin typeface="Aptos" panose="020B0004020202020204" pitchFamily="34" charset="0"/>
              </a:rPr>
              <a:t>Először a megosztott Drive mappából indítottuk el mindig a futást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altLang="hu-HU" sz="2200">
                <a:latin typeface="Aptos" panose="020B0004020202020204" pitchFamily="34" charset="0"/>
              </a:rPr>
              <a:t>Pros: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altLang="hu-HU" sz="2200">
                <a:latin typeface="Aptos" panose="020B0004020202020204" pitchFamily="34" charset="0"/>
              </a:rPr>
              <a:t>Bárki elindíthatta a futást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altLang="hu-HU" sz="2200">
                <a:latin typeface="Aptos" panose="020B0004020202020204" pitchFamily="34" charset="0"/>
              </a:rPr>
              <a:t>Cons: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hu-HU" altLang="hu-HU" sz="22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Az adatok soronkénti betöltése közvetlenül Drive-ból rontotta a hatékony batch-feldolgozást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hu-HU" altLang="hu-HU" sz="22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Kezdetben csak a nyers datasetet töltöttük be, figyelmen kívül hagyva a hajó/víz pixelek aránytalan eloszlását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hu-HU" altLang="hu-HU" sz="220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Cons</a:t>
            </a:r>
            <a:r>
              <a:rPr kumimoji="0" lang="hu-HU" altLang="hu-HU" sz="2200" b="1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r>
              <a:rPr kumimoji="0" lang="hu-HU" altLang="hu-HU" sz="2200" b="0" i="0" u="none" strike="noStrike" cap="none" normalizeH="0" baseline="0">
                <a:ln>
                  <a:noFill/>
                </a:ln>
                <a:effectLst/>
                <a:latin typeface="Aptos" panose="020B0004020202020204" pitchFamily="34" charset="0"/>
              </a:rPr>
              <a:t> A modell a többségi osztályt (víz) tanulta meg, hamis pontosságot mutatva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81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C4A3D9-8B44-6044-65DC-9B45B0333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/>
              <a:t>Adatok kezelése, előfeldolgozás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D261CD-EEA0-0D0F-8589-398703AAB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hu-HU" sz="20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hu-HU" sz="20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sz="2000" dirty="0"/>
              <a:t> Az adatokat a gyors lokális </a:t>
            </a:r>
            <a:r>
              <a:rPr lang="hu-HU" sz="2000" dirty="0" err="1"/>
              <a:t>Colab</a:t>
            </a:r>
            <a:r>
              <a:rPr lang="hu-HU" sz="2000" dirty="0"/>
              <a:t> SSD-be csomagoltuk ki, és 16-os batch </a:t>
            </a:r>
            <a:r>
              <a:rPr lang="hu-HU" sz="2000" dirty="0" err="1"/>
              <a:t>sizeban</a:t>
            </a:r>
            <a:r>
              <a:rPr lang="hu-HU" sz="2000" dirty="0"/>
              <a:t> dolgoztuk fel őket a hatékonyság érdekében.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hu-HU" sz="2000" dirty="0"/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sz="2000" dirty="0"/>
              <a:t>A has </a:t>
            </a:r>
            <a:r>
              <a:rPr lang="hu-HU" sz="2000" dirty="0" err="1"/>
              <a:t>ship</a:t>
            </a:r>
            <a:r>
              <a:rPr lang="hu-HU" sz="2000" dirty="0"/>
              <a:t> jelzővel kiszűrtük az üres képeket, és 1:3 arányt állítottunk be a hajós képek javára, hogy a modell ne csak a vizet tanulja meg.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hu-HU" sz="2000" dirty="0"/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sz="2000" dirty="0"/>
              <a:t>A nagy képekből kisebb, 384x384-es darabokat vágtunk ki a hajók köré, így megmaradt a fontos információ és a modell a lényegre fókuszált.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hu-HU" sz="2000" dirty="0"/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hu-HU" sz="2000" dirty="0"/>
              <a:t>Tanítás közben a képeket véletlenszerűen tükröztük és 90 fokos lépésekben forgattuk, hogy a gép bármilyen irányból felismerje a hajókat.</a:t>
            </a:r>
            <a:endParaRPr kumimoji="0" lang="hu-HU" altLang="hu-HU" sz="20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hu-HU" altLang="hu-HU" sz="12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26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44E531-1974-C5D7-FBC6-3716766F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200"/>
              <a:t>Végső architektúra </a:t>
            </a:r>
            <a:br>
              <a:rPr lang="hu-HU" sz="4200"/>
            </a:br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F3CF01-58DE-DF62-1F36-E068F350B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/>
              <a:t>U-net architektúra</a:t>
            </a:r>
          </a:p>
          <a:p>
            <a:r>
              <a:rPr lang="hu-HU" sz="2200"/>
              <a:t>Encoder: 4 blokkból áll, amelyek konvolúcióval felismerik a képi mintákat, a MaxPooling rétegekkel pedig folyamatosan csökkentik a kép méretét a lényeg kinyeréséhez.</a:t>
            </a:r>
          </a:p>
          <a:p>
            <a:r>
              <a:rPr lang="hu-HU" sz="2200"/>
              <a:t>Bottleneck: A hálózat legmélyebb pontja, ahol a legkomplexebb összefüggéseket tanulja meg a modell a legkisebb felbontáson.</a:t>
            </a:r>
          </a:p>
          <a:p>
            <a:r>
              <a:rPr lang="hu-HU" sz="2200"/>
              <a:t>Decoder: Transzponált konvolúciókkal fokozatosan visszaállítja a kép eredeti felbontását a maszk elkészítéséhez.</a:t>
            </a:r>
          </a:p>
          <a:p>
            <a:endParaRPr lang="hu-HU" sz="2200"/>
          </a:p>
        </p:txBody>
      </p:sp>
    </p:spTree>
    <p:extLst>
      <p:ext uri="{BB962C8B-B14F-4D97-AF65-F5344CB8AC3E}">
        <p14:creationId xmlns:p14="http://schemas.microsoft.com/office/powerpoint/2010/main" val="224146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EBC8A8-22E6-2B8C-1C07-8DFD77FE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/>
              <a:t>Tanítás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FD537C-C80C-70BE-221E-27257EE1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106805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Loss function</a:t>
            </a:r>
            <a:r>
              <a:rPr lang="hu-HU" sz="2200" dirty="0"/>
              <a:t>:</a:t>
            </a:r>
          </a:p>
          <a:p>
            <a:pPr lvl="1"/>
            <a:r>
              <a:rPr lang="hu-HU" sz="2200" dirty="0"/>
              <a:t>BCE + </a:t>
            </a:r>
            <a:r>
              <a:rPr lang="hu-HU" sz="2200" dirty="0" err="1"/>
              <a:t>Dice</a:t>
            </a:r>
            <a:r>
              <a:rPr lang="hu-HU" sz="2200" dirty="0"/>
              <a:t> </a:t>
            </a:r>
            <a:r>
              <a:rPr lang="hu-HU" sz="2200" dirty="0" err="1"/>
              <a:t>loss</a:t>
            </a:r>
            <a:endParaRPr lang="hu-HU" sz="2200" dirty="0"/>
          </a:p>
          <a:p>
            <a:r>
              <a:rPr lang="hu-HU" sz="2200" dirty="0" err="1"/>
              <a:t>Optimizer</a:t>
            </a:r>
            <a:r>
              <a:rPr lang="hu-HU" sz="2200" dirty="0"/>
              <a:t>:</a:t>
            </a:r>
          </a:p>
          <a:p>
            <a:pPr lvl="1"/>
            <a:r>
              <a:rPr lang="hu-HU" sz="2200" dirty="0"/>
              <a:t>Adam</a:t>
            </a:r>
          </a:p>
          <a:p>
            <a:r>
              <a:rPr lang="hu-HU" sz="2200" dirty="0" err="1"/>
              <a:t>Callbacks</a:t>
            </a:r>
            <a:r>
              <a:rPr lang="hu-HU" sz="2200" dirty="0"/>
              <a:t>:</a:t>
            </a:r>
          </a:p>
          <a:p>
            <a:pPr lvl="1"/>
            <a:r>
              <a:rPr lang="en-US" sz="2200" dirty="0"/>
              <a:t>Early Stopping: </a:t>
            </a:r>
            <a:r>
              <a:rPr lang="en-US" sz="2200" dirty="0" err="1"/>
              <a:t>Túltanulás</a:t>
            </a:r>
            <a:r>
              <a:rPr lang="en-US" sz="2200" dirty="0"/>
              <a:t> </a:t>
            </a:r>
            <a:r>
              <a:rPr lang="en-US" sz="2200" dirty="0" err="1"/>
              <a:t>megelőzés</a:t>
            </a:r>
            <a:r>
              <a:rPr lang="hu-HU" sz="2200" dirty="0"/>
              <a:t>e</a:t>
            </a:r>
          </a:p>
          <a:p>
            <a:pPr lvl="1"/>
            <a:r>
              <a:rPr lang="hu-HU" sz="2200" dirty="0" err="1"/>
              <a:t>Model</a:t>
            </a:r>
            <a:r>
              <a:rPr lang="hu-HU" sz="2200" dirty="0"/>
              <a:t> </a:t>
            </a:r>
            <a:r>
              <a:rPr lang="hu-HU" sz="2200" dirty="0" err="1"/>
              <a:t>Checkpoint</a:t>
            </a:r>
            <a:r>
              <a:rPr lang="hu-HU" sz="2200" dirty="0"/>
              <a:t>: Mindig a legjobb validációs </a:t>
            </a:r>
            <a:r>
              <a:rPr lang="hu-HU" sz="2200" dirty="0" err="1"/>
              <a:t>IoU-val</a:t>
            </a:r>
            <a:r>
              <a:rPr lang="hu-HU" sz="2200" dirty="0"/>
              <a:t> rendelkező súlyok mentése  </a:t>
            </a:r>
          </a:p>
          <a:p>
            <a:pPr lvl="1"/>
            <a:r>
              <a:rPr lang="hu-HU" sz="2200" dirty="0" err="1"/>
              <a:t>ReduceLROnPlateau</a:t>
            </a:r>
            <a:r>
              <a:rPr lang="hu-HU" sz="2200" dirty="0"/>
              <a:t>: Tanulási ráta felezése stagnálás esetén</a:t>
            </a:r>
          </a:p>
        </p:txBody>
      </p:sp>
    </p:spTree>
    <p:extLst>
      <p:ext uri="{BB962C8B-B14F-4D97-AF65-F5344CB8AC3E}">
        <p14:creationId xmlns:p14="http://schemas.microsoft.com/office/powerpoint/2010/main" val="93795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9AF16A6-7A71-716A-9367-A4B640FC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hu-HU" sz="4600"/>
              <a:t>Eredmények: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350B89-57BE-ECF2-336B-BEB7F3F37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hu-HU" sz="2200" dirty="0"/>
              <a:t>Validációs metrikák:</a:t>
            </a:r>
          </a:p>
          <a:p>
            <a:pPr lvl="1"/>
            <a:r>
              <a:rPr lang="hu-HU" sz="2200" dirty="0" err="1"/>
              <a:t>Val</a:t>
            </a:r>
            <a:r>
              <a:rPr lang="hu-HU" sz="2200" dirty="0"/>
              <a:t> </a:t>
            </a:r>
            <a:r>
              <a:rPr lang="hu-HU" sz="2200" dirty="0" err="1"/>
              <a:t>Dice</a:t>
            </a:r>
            <a:r>
              <a:rPr lang="hu-HU" sz="2200" dirty="0"/>
              <a:t> </a:t>
            </a:r>
            <a:r>
              <a:rPr lang="hu-HU" sz="2200" dirty="0" err="1"/>
              <a:t>Coefficient</a:t>
            </a:r>
            <a:r>
              <a:rPr lang="hu-HU" sz="2200" dirty="0"/>
              <a:t>: 0.5410</a:t>
            </a:r>
          </a:p>
          <a:p>
            <a:pPr lvl="1"/>
            <a:r>
              <a:rPr lang="hu-HU" sz="2200" dirty="0" err="1"/>
              <a:t>Val</a:t>
            </a:r>
            <a:r>
              <a:rPr lang="hu-HU" sz="2200" dirty="0"/>
              <a:t> </a:t>
            </a:r>
            <a:r>
              <a:rPr lang="hu-HU" sz="2200" dirty="0" err="1"/>
              <a:t>IoU</a:t>
            </a:r>
            <a:r>
              <a:rPr lang="hu-HU" sz="2200" dirty="0"/>
              <a:t> </a:t>
            </a:r>
            <a:r>
              <a:rPr lang="hu-HU" sz="2200" dirty="0" err="1"/>
              <a:t>Metric</a:t>
            </a:r>
            <a:r>
              <a:rPr lang="hu-HU" sz="2200" dirty="0"/>
              <a:t>: 0.4134</a:t>
            </a:r>
          </a:p>
          <a:p>
            <a:pPr lvl="1"/>
            <a:r>
              <a:rPr lang="hu-HU" sz="2200" dirty="0" err="1"/>
              <a:t>Val</a:t>
            </a:r>
            <a:r>
              <a:rPr lang="hu-HU" sz="2200" dirty="0"/>
              <a:t> </a:t>
            </a:r>
            <a:r>
              <a:rPr lang="hu-HU" sz="2200" dirty="0" err="1"/>
              <a:t>Loss</a:t>
            </a:r>
            <a:r>
              <a:rPr lang="hu-HU" sz="2200" dirty="0"/>
              <a:t>: 0.4660</a:t>
            </a:r>
          </a:p>
          <a:p>
            <a:r>
              <a:rPr lang="hu-HU" sz="2400" dirty="0" err="1"/>
              <a:t>Precision</a:t>
            </a:r>
            <a:r>
              <a:rPr lang="hu-HU" sz="2400" dirty="0"/>
              <a:t>: 0.8161</a:t>
            </a:r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44AC3A1-D989-D6BA-308F-E591161CA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9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A11EF66-AA2C-A6F1-D8EA-FE45AF50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Demo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5783D17-A6A3-8B5D-C730-68C3C00F5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27" y="1893840"/>
            <a:ext cx="12003234" cy="2280612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07A66AD-65A5-1942-D6CE-CFAB4A08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" y="4347961"/>
            <a:ext cx="12192000" cy="233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9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338D5E3-CABC-E527-CF46-8FBDC19E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/>
              <a:t>Összefoglaló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36C467-275F-3086-EB21-72C7D0C6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957959"/>
            <a:ext cx="11122915" cy="4251960"/>
          </a:xfrm>
        </p:spPr>
        <p:txBody>
          <a:bodyPr>
            <a:normAutofit/>
          </a:bodyPr>
          <a:lstStyle/>
          <a:p>
            <a:r>
              <a:rPr lang="hu-HU" sz="2200" dirty="0"/>
              <a:t>Mivel sosem foglalkoztunk a témával, emiatt nagyon sok segítséget kellett használnunk, viszont rengeteget tanultunk belőle, amiből sok hasznos tudást szerezhettünk</a:t>
            </a:r>
          </a:p>
          <a:p>
            <a:r>
              <a:rPr lang="hu-HU" sz="2200" dirty="0"/>
              <a:t>Köszönjük a lehetőséget!</a:t>
            </a:r>
          </a:p>
        </p:txBody>
      </p:sp>
    </p:spTree>
    <p:extLst>
      <p:ext uri="{BB962C8B-B14F-4D97-AF65-F5344CB8AC3E}">
        <p14:creationId xmlns:p14="http://schemas.microsoft.com/office/powerpoint/2010/main" val="389296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392</Words>
  <Application>Microsoft Office PowerPoint</Application>
  <PresentationFormat>Szélesvásznú</PresentationFormat>
  <Paragraphs>52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Office-téma</vt:lpstr>
      <vt:lpstr>Házi feladat bemutatás</vt:lpstr>
      <vt:lpstr>Cél, adatok</vt:lpstr>
      <vt:lpstr>Korábbi megoldások, és problémák</vt:lpstr>
      <vt:lpstr>Adatok kezelése, előfeldolgozás</vt:lpstr>
      <vt:lpstr>Végső architektúra  </vt:lpstr>
      <vt:lpstr>Tanítás</vt:lpstr>
      <vt:lpstr>Eredmények:</vt:lpstr>
      <vt:lpstr>Demo</vt:lpstr>
      <vt:lpstr>Összefoglaló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Павел Оглезнев</dc:creator>
  <cp:lastModifiedBy>Csáki Márton</cp:lastModifiedBy>
  <cp:revision>10</cp:revision>
  <dcterms:created xsi:type="dcterms:W3CDTF">2026-01-14T14:06:55Z</dcterms:created>
  <dcterms:modified xsi:type="dcterms:W3CDTF">2026-01-14T21:03:44Z</dcterms:modified>
</cp:coreProperties>
</file>